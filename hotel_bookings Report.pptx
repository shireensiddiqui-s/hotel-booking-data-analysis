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6AC87B-7544-45FC-B117-407FFBF50AD4}" type="doc">
      <dgm:prSet loTypeId="urn:microsoft.com/office/officeart/2005/8/layout/target3" loCatId="relationship" qsTypeId="urn:microsoft.com/office/officeart/2005/8/quickstyle/simple1" qsCatId="simple" csTypeId="urn:microsoft.com/office/officeart/2005/8/colors/accent0_3" csCatId="mainScheme" phldr="1"/>
      <dgm:spPr/>
      <dgm:t>
        <a:bodyPr/>
        <a:lstStyle/>
        <a:p>
          <a:endParaRPr lang="en-US"/>
        </a:p>
      </dgm:t>
    </dgm:pt>
    <dgm:pt modelId="{EE5D692D-5018-48DD-96DB-6AF50DDCB535}">
      <dgm:prSet/>
      <dgm:spPr/>
      <dgm:t>
        <a:bodyPr/>
        <a:lstStyle/>
        <a:p>
          <a:pPr rtl="0"/>
          <a:r>
            <a:rPr lang="en-IN" b="1" smtClean="0"/>
            <a:t>✔ Business Problem</a:t>
          </a:r>
          <a:endParaRPr lang="en-IN"/>
        </a:p>
      </dgm:t>
    </dgm:pt>
    <dgm:pt modelId="{9993B7DE-D666-4108-877D-D9573F9136ED}" type="parTrans" cxnId="{F7B86A31-6D19-4B82-ADFF-91F542AD2DC3}">
      <dgm:prSet/>
      <dgm:spPr/>
      <dgm:t>
        <a:bodyPr/>
        <a:lstStyle/>
        <a:p>
          <a:endParaRPr lang="en-US"/>
        </a:p>
      </dgm:t>
    </dgm:pt>
    <dgm:pt modelId="{9EA88106-5086-4EFF-9873-16BB9BF095E3}" type="sibTrans" cxnId="{F7B86A31-6D19-4B82-ADFF-91F542AD2DC3}">
      <dgm:prSet/>
      <dgm:spPr/>
      <dgm:t>
        <a:bodyPr/>
        <a:lstStyle/>
        <a:p>
          <a:endParaRPr lang="en-US"/>
        </a:p>
      </dgm:t>
    </dgm:pt>
    <dgm:pt modelId="{47D4429E-8ED8-4C82-AD3A-9701EAF3D3D0}" type="pres">
      <dgm:prSet presAssocID="{6D6AC87B-7544-45FC-B117-407FFBF50AD4}" presName="Name0" presStyleCnt="0">
        <dgm:presLayoutVars>
          <dgm:chMax val="7"/>
          <dgm:dir/>
          <dgm:animLvl val="lvl"/>
          <dgm:resizeHandles val="exact"/>
        </dgm:presLayoutVars>
      </dgm:prSet>
      <dgm:spPr/>
    </dgm:pt>
    <dgm:pt modelId="{2DE51A7E-0A5F-4A50-8536-7791FFD40C80}" type="pres">
      <dgm:prSet presAssocID="{EE5D692D-5018-48DD-96DB-6AF50DDCB535}" presName="circle1" presStyleLbl="node1" presStyleIdx="0" presStyleCnt="1"/>
      <dgm:spPr/>
    </dgm:pt>
    <dgm:pt modelId="{13C78BDA-5115-452F-A7E7-495920EEB898}" type="pres">
      <dgm:prSet presAssocID="{EE5D692D-5018-48DD-96DB-6AF50DDCB535}" presName="space" presStyleCnt="0"/>
      <dgm:spPr/>
    </dgm:pt>
    <dgm:pt modelId="{6BB43A50-23A9-46C0-A573-674439CC080C}" type="pres">
      <dgm:prSet presAssocID="{EE5D692D-5018-48DD-96DB-6AF50DDCB535}" presName="rect1" presStyleLbl="alignAcc1" presStyleIdx="0" presStyleCnt="1"/>
      <dgm:spPr/>
    </dgm:pt>
    <dgm:pt modelId="{F5ED3625-D24F-43C2-A912-4A9FDC973D91}" type="pres">
      <dgm:prSet presAssocID="{EE5D692D-5018-48DD-96DB-6AF50DDCB535}" presName="rect1ParTxNoCh" presStyleLbl="alignAcc1" presStyleIdx="0" presStyleCnt="1">
        <dgm:presLayoutVars>
          <dgm:chMax val="1"/>
          <dgm:bulletEnabled val="1"/>
        </dgm:presLayoutVars>
      </dgm:prSet>
      <dgm:spPr/>
    </dgm:pt>
  </dgm:ptLst>
  <dgm:cxnLst>
    <dgm:cxn modelId="{F7B86A31-6D19-4B82-ADFF-91F542AD2DC3}" srcId="{6D6AC87B-7544-45FC-B117-407FFBF50AD4}" destId="{EE5D692D-5018-48DD-96DB-6AF50DDCB535}" srcOrd="0" destOrd="0" parTransId="{9993B7DE-D666-4108-877D-D9573F9136ED}" sibTransId="{9EA88106-5086-4EFF-9873-16BB9BF095E3}"/>
    <dgm:cxn modelId="{57633F14-498C-4EF4-900C-0710830CCDDE}" type="presOf" srcId="{EE5D692D-5018-48DD-96DB-6AF50DDCB535}" destId="{6BB43A50-23A9-46C0-A573-674439CC080C}" srcOrd="0" destOrd="0" presId="urn:microsoft.com/office/officeart/2005/8/layout/target3"/>
    <dgm:cxn modelId="{36511575-74B0-4654-A351-A0CC52D0AB21}" type="presOf" srcId="{EE5D692D-5018-48DD-96DB-6AF50DDCB535}" destId="{F5ED3625-D24F-43C2-A912-4A9FDC973D91}" srcOrd="1" destOrd="0" presId="urn:microsoft.com/office/officeart/2005/8/layout/target3"/>
    <dgm:cxn modelId="{835EEB2A-93FE-444B-972F-F1ACADFF77D8}" type="presOf" srcId="{6D6AC87B-7544-45FC-B117-407FFBF50AD4}" destId="{47D4429E-8ED8-4C82-AD3A-9701EAF3D3D0}" srcOrd="0" destOrd="0" presId="urn:microsoft.com/office/officeart/2005/8/layout/target3"/>
    <dgm:cxn modelId="{8AA0FD2A-D91A-40F0-B704-4F8D6EDCAFB8}" type="presParOf" srcId="{47D4429E-8ED8-4C82-AD3A-9701EAF3D3D0}" destId="{2DE51A7E-0A5F-4A50-8536-7791FFD40C80}" srcOrd="0" destOrd="0" presId="urn:microsoft.com/office/officeart/2005/8/layout/target3"/>
    <dgm:cxn modelId="{CDDFEF26-D39B-45C4-B7BD-876F58A10A82}" type="presParOf" srcId="{47D4429E-8ED8-4C82-AD3A-9701EAF3D3D0}" destId="{13C78BDA-5115-452F-A7E7-495920EEB898}" srcOrd="1" destOrd="0" presId="urn:microsoft.com/office/officeart/2005/8/layout/target3"/>
    <dgm:cxn modelId="{1D77A496-B3AC-4E8B-AA55-19273663F3E6}" type="presParOf" srcId="{47D4429E-8ED8-4C82-AD3A-9701EAF3D3D0}" destId="{6BB43A50-23A9-46C0-A573-674439CC080C}" srcOrd="2" destOrd="0" presId="urn:microsoft.com/office/officeart/2005/8/layout/target3"/>
    <dgm:cxn modelId="{C331D141-D0F4-477F-B314-F835EE53BCE7}" type="presParOf" srcId="{47D4429E-8ED8-4C82-AD3A-9701EAF3D3D0}" destId="{F5ED3625-D24F-43C2-A912-4A9FDC973D9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5AD0A2-234A-447B-8AAC-9DD1416F6C7D}" type="doc">
      <dgm:prSet loTypeId="urn:microsoft.com/office/officeart/2005/8/layout/target3" loCatId="relationship" qsTypeId="urn:microsoft.com/office/officeart/2005/8/quickstyle/simple1" qsCatId="simple" csTypeId="urn:microsoft.com/office/officeart/2005/8/colors/accent0_3" csCatId="mainScheme"/>
      <dgm:spPr/>
      <dgm:t>
        <a:bodyPr/>
        <a:lstStyle/>
        <a:p>
          <a:endParaRPr lang="en-US"/>
        </a:p>
      </dgm:t>
    </dgm:pt>
    <dgm:pt modelId="{40E64CE7-CCA0-466E-B27A-C6B31E2BF222}">
      <dgm:prSet/>
      <dgm:spPr/>
      <dgm:t>
        <a:bodyPr/>
        <a:lstStyle/>
        <a:p>
          <a:pPr rtl="0"/>
          <a:r>
            <a:rPr lang="en-IN" b="1" smtClean="0"/>
            <a:t>✔ Research Questions </a:t>
          </a:r>
          <a:endParaRPr lang="en-IN"/>
        </a:p>
      </dgm:t>
    </dgm:pt>
    <dgm:pt modelId="{1962A4D1-5D91-4521-B1A0-05C92190990F}" type="parTrans" cxnId="{D213667D-BD85-4A66-8894-71168597E982}">
      <dgm:prSet/>
      <dgm:spPr/>
      <dgm:t>
        <a:bodyPr/>
        <a:lstStyle/>
        <a:p>
          <a:endParaRPr lang="en-US"/>
        </a:p>
      </dgm:t>
    </dgm:pt>
    <dgm:pt modelId="{9C0C6BE0-7F96-4FC5-A3B3-A5EE10DC94D0}" type="sibTrans" cxnId="{D213667D-BD85-4A66-8894-71168597E982}">
      <dgm:prSet/>
      <dgm:spPr/>
      <dgm:t>
        <a:bodyPr/>
        <a:lstStyle/>
        <a:p>
          <a:endParaRPr lang="en-US"/>
        </a:p>
      </dgm:t>
    </dgm:pt>
    <dgm:pt modelId="{58678FE5-68CB-4CD3-98E9-B59C97D770CE}" type="pres">
      <dgm:prSet presAssocID="{255AD0A2-234A-447B-8AAC-9DD1416F6C7D}" presName="Name0" presStyleCnt="0">
        <dgm:presLayoutVars>
          <dgm:chMax val="7"/>
          <dgm:dir/>
          <dgm:animLvl val="lvl"/>
          <dgm:resizeHandles val="exact"/>
        </dgm:presLayoutVars>
      </dgm:prSet>
      <dgm:spPr/>
    </dgm:pt>
    <dgm:pt modelId="{04CC4ED3-C210-4656-8938-D42E469D20CD}" type="pres">
      <dgm:prSet presAssocID="{40E64CE7-CCA0-466E-B27A-C6B31E2BF222}" presName="circle1" presStyleLbl="node1" presStyleIdx="0" presStyleCnt="1"/>
      <dgm:spPr/>
    </dgm:pt>
    <dgm:pt modelId="{937817F0-F7E3-4E4F-9119-ABEE8B32DAF2}" type="pres">
      <dgm:prSet presAssocID="{40E64CE7-CCA0-466E-B27A-C6B31E2BF222}" presName="space" presStyleCnt="0"/>
      <dgm:spPr/>
    </dgm:pt>
    <dgm:pt modelId="{6E13C2E5-07F8-404F-82C5-79C18DB42ECA}" type="pres">
      <dgm:prSet presAssocID="{40E64CE7-CCA0-466E-B27A-C6B31E2BF222}" presName="rect1" presStyleLbl="alignAcc1" presStyleIdx="0" presStyleCnt="1"/>
      <dgm:spPr/>
    </dgm:pt>
    <dgm:pt modelId="{54E9705E-B2F8-42B1-A2FD-136FC89E8C94}" type="pres">
      <dgm:prSet presAssocID="{40E64CE7-CCA0-466E-B27A-C6B31E2BF222}" presName="rect1ParTxNoCh" presStyleLbl="alignAcc1" presStyleIdx="0" presStyleCnt="1">
        <dgm:presLayoutVars>
          <dgm:chMax val="1"/>
          <dgm:bulletEnabled val="1"/>
        </dgm:presLayoutVars>
      </dgm:prSet>
      <dgm:spPr/>
    </dgm:pt>
  </dgm:ptLst>
  <dgm:cxnLst>
    <dgm:cxn modelId="{D213667D-BD85-4A66-8894-71168597E982}" srcId="{255AD0A2-234A-447B-8AAC-9DD1416F6C7D}" destId="{40E64CE7-CCA0-466E-B27A-C6B31E2BF222}" srcOrd="0" destOrd="0" parTransId="{1962A4D1-5D91-4521-B1A0-05C92190990F}" sibTransId="{9C0C6BE0-7F96-4FC5-A3B3-A5EE10DC94D0}"/>
    <dgm:cxn modelId="{D7A2DF4E-A79F-4236-BCE4-D8839296EDCF}" type="presOf" srcId="{40E64CE7-CCA0-466E-B27A-C6B31E2BF222}" destId="{54E9705E-B2F8-42B1-A2FD-136FC89E8C94}" srcOrd="1" destOrd="0" presId="urn:microsoft.com/office/officeart/2005/8/layout/target3"/>
    <dgm:cxn modelId="{1DD7618A-8474-4D72-A6D8-9DED90A8E5CB}" type="presOf" srcId="{255AD0A2-234A-447B-8AAC-9DD1416F6C7D}" destId="{58678FE5-68CB-4CD3-98E9-B59C97D770CE}" srcOrd="0" destOrd="0" presId="urn:microsoft.com/office/officeart/2005/8/layout/target3"/>
    <dgm:cxn modelId="{8F9F94F1-DDE9-4170-8C14-BCB5771E5A6B}" type="presOf" srcId="{40E64CE7-CCA0-466E-B27A-C6B31E2BF222}" destId="{6E13C2E5-07F8-404F-82C5-79C18DB42ECA}" srcOrd="0" destOrd="0" presId="urn:microsoft.com/office/officeart/2005/8/layout/target3"/>
    <dgm:cxn modelId="{524F23C5-BCAB-4ACB-8818-77D3A43F1D88}" type="presParOf" srcId="{58678FE5-68CB-4CD3-98E9-B59C97D770CE}" destId="{04CC4ED3-C210-4656-8938-D42E469D20CD}" srcOrd="0" destOrd="0" presId="urn:microsoft.com/office/officeart/2005/8/layout/target3"/>
    <dgm:cxn modelId="{C9405326-D482-4859-AC46-9823B4183E32}" type="presParOf" srcId="{58678FE5-68CB-4CD3-98E9-B59C97D770CE}" destId="{937817F0-F7E3-4E4F-9119-ABEE8B32DAF2}" srcOrd="1" destOrd="0" presId="urn:microsoft.com/office/officeart/2005/8/layout/target3"/>
    <dgm:cxn modelId="{871658C3-84FE-44EB-B22C-7CD4542E22AA}" type="presParOf" srcId="{58678FE5-68CB-4CD3-98E9-B59C97D770CE}" destId="{6E13C2E5-07F8-404F-82C5-79C18DB42ECA}" srcOrd="2" destOrd="0" presId="urn:microsoft.com/office/officeart/2005/8/layout/target3"/>
    <dgm:cxn modelId="{A4E13060-511C-4468-8257-6D785A70A667}" type="presParOf" srcId="{58678FE5-68CB-4CD3-98E9-B59C97D770CE}" destId="{54E9705E-B2F8-42B1-A2FD-136FC89E8C9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3D9C69-7665-4AE3-90A3-E0A1FA7F736E}" type="doc">
      <dgm:prSet loTypeId="urn:microsoft.com/office/officeart/2005/8/layout/target3" loCatId="relationship" qsTypeId="urn:microsoft.com/office/officeart/2005/8/quickstyle/simple1" qsCatId="simple" csTypeId="urn:microsoft.com/office/officeart/2005/8/colors/accent0_3" csCatId="mainScheme"/>
      <dgm:spPr/>
      <dgm:t>
        <a:bodyPr/>
        <a:lstStyle/>
        <a:p>
          <a:endParaRPr lang="en-US"/>
        </a:p>
      </dgm:t>
    </dgm:pt>
    <dgm:pt modelId="{A6B56125-D678-4465-B21C-FBA36B5CE0D6}">
      <dgm:prSet/>
      <dgm:spPr/>
      <dgm:t>
        <a:bodyPr/>
        <a:lstStyle/>
        <a:p>
          <a:pPr rtl="0"/>
          <a:r>
            <a:rPr lang="en-IN" b="1" smtClean="0"/>
            <a:t>✔ Assumptions </a:t>
          </a:r>
          <a:endParaRPr lang="en-IN"/>
        </a:p>
      </dgm:t>
    </dgm:pt>
    <dgm:pt modelId="{04C44A22-5086-4EFC-B526-8DF8808123D8}" type="parTrans" cxnId="{6B651967-7019-46E0-942A-3135D56C7369}">
      <dgm:prSet/>
      <dgm:spPr/>
      <dgm:t>
        <a:bodyPr/>
        <a:lstStyle/>
        <a:p>
          <a:endParaRPr lang="en-US"/>
        </a:p>
      </dgm:t>
    </dgm:pt>
    <dgm:pt modelId="{D905E6DD-EDD4-40AE-9B28-58AEB8185FD5}" type="sibTrans" cxnId="{6B651967-7019-46E0-942A-3135D56C7369}">
      <dgm:prSet/>
      <dgm:spPr/>
      <dgm:t>
        <a:bodyPr/>
        <a:lstStyle/>
        <a:p>
          <a:endParaRPr lang="en-US"/>
        </a:p>
      </dgm:t>
    </dgm:pt>
    <dgm:pt modelId="{E39F7638-291B-46F4-A3BF-29F685C51EAF}" type="pres">
      <dgm:prSet presAssocID="{9D3D9C69-7665-4AE3-90A3-E0A1FA7F736E}" presName="Name0" presStyleCnt="0">
        <dgm:presLayoutVars>
          <dgm:chMax val="7"/>
          <dgm:dir/>
          <dgm:animLvl val="lvl"/>
          <dgm:resizeHandles val="exact"/>
        </dgm:presLayoutVars>
      </dgm:prSet>
      <dgm:spPr/>
    </dgm:pt>
    <dgm:pt modelId="{5E9248C4-112A-4B3B-BE38-7AE00925D61D}" type="pres">
      <dgm:prSet presAssocID="{A6B56125-D678-4465-B21C-FBA36B5CE0D6}" presName="circle1" presStyleLbl="node1" presStyleIdx="0" presStyleCnt="1"/>
      <dgm:spPr/>
    </dgm:pt>
    <dgm:pt modelId="{AC7D476C-7458-4C81-BDAC-B061459CDBD2}" type="pres">
      <dgm:prSet presAssocID="{A6B56125-D678-4465-B21C-FBA36B5CE0D6}" presName="space" presStyleCnt="0"/>
      <dgm:spPr/>
    </dgm:pt>
    <dgm:pt modelId="{4081B165-37A3-43E7-BA2B-5858711B182A}" type="pres">
      <dgm:prSet presAssocID="{A6B56125-D678-4465-B21C-FBA36B5CE0D6}" presName="rect1" presStyleLbl="alignAcc1" presStyleIdx="0" presStyleCnt="1"/>
      <dgm:spPr/>
    </dgm:pt>
    <dgm:pt modelId="{DCC9EA85-A482-43F2-B983-7A7159197091}" type="pres">
      <dgm:prSet presAssocID="{A6B56125-D678-4465-B21C-FBA36B5CE0D6}" presName="rect1ParTxNoCh" presStyleLbl="alignAcc1" presStyleIdx="0" presStyleCnt="1">
        <dgm:presLayoutVars>
          <dgm:chMax val="1"/>
          <dgm:bulletEnabled val="1"/>
        </dgm:presLayoutVars>
      </dgm:prSet>
      <dgm:spPr/>
    </dgm:pt>
  </dgm:ptLst>
  <dgm:cxnLst>
    <dgm:cxn modelId="{41EE4C64-D17D-4038-BAA9-86F80A8B1362}" type="presOf" srcId="{9D3D9C69-7665-4AE3-90A3-E0A1FA7F736E}" destId="{E39F7638-291B-46F4-A3BF-29F685C51EAF}" srcOrd="0" destOrd="0" presId="urn:microsoft.com/office/officeart/2005/8/layout/target3"/>
    <dgm:cxn modelId="{6B651967-7019-46E0-942A-3135D56C7369}" srcId="{9D3D9C69-7665-4AE3-90A3-E0A1FA7F736E}" destId="{A6B56125-D678-4465-B21C-FBA36B5CE0D6}" srcOrd="0" destOrd="0" parTransId="{04C44A22-5086-4EFC-B526-8DF8808123D8}" sibTransId="{D905E6DD-EDD4-40AE-9B28-58AEB8185FD5}"/>
    <dgm:cxn modelId="{96A10ED7-AAAF-4F81-A9BF-C95D795390FF}" type="presOf" srcId="{A6B56125-D678-4465-B21C-FBA36B5CE0D6}" destId="{DCC9EA85-A482-43F2-B983-7A7159197091}" srcOrd="1" destOrd="0" presId="urn:microsoft.com/office/officeart/2005/8/layout/target3"/>
    <dgm:cxn modelId="{EF397467-227A-45E3-8C3D-8BA0D7E50D86}" type="presOf" srcId="{A6B56125-D678-4465-B21C-FBA36B5CE0D6}" destId="{4081B165-37A3-43E7-BA2B-5858711B182A}" srcOrd="0" destOrd="0" presId="urn:microsoft.com/office/officeart/2005/8/layout/target3"/>
    <dgm:cxn modelId="{C9271DB6-3F04-43E4-899F-09763501B3A0}" type="presParOf" srcId="{E39F7638-291B-46F4-A3BF-29F685C51EAF}" destId="{5E9248C4-112A-4B3B-BE38-7AE00925D61D}" srcOrd="0" destOrd="0" presId="urn:microsoft.com/office/officeart/2005/8/layout/target3"/>
    <dgm:cxn modelId="{F78E4D5A-2345-4749-9E61-47F2E69CE0DB}" type="presParOf" srcId="{E39F7638-291B-46F4-A3BF-29F685C51EAF}" destId="{AC7D476C-7458-4C81-BDAC-B061459CDBD2}" srcOrd="1" destOrd="0" presId="urn:microsoft.com/office/officeart/2005/8/layout/target3"/>
    <dgm:cxn modelId="{1155FED3-AC02-4CDD-A2EA-98A89DD72506}" type="presParOf" srcId="{E39F7638-291B-46F4-A3BF-29F685C51EAF}" destId="{4081B165-37A3-43E7-BA2B-5858711B182A}" srcOrd="2" destOrd="0" presId="urn:microsoft.com/office/officeart/2005/8/layout/target3"/>
    <dgm:cxn modelId="{2706C0BE-3457-4E79-9A10-607BE87EDC6B}" type="presParOf" srcId="{E39F7638-291B-46F4-A3BF-29F685C51EAF}" destId="{DCC9EA85-A482-43F2-B983-7A715919709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E601FE0-8B6C-4FE9-BEB2-418A0560747B}" type="doc">
      <dgm:prSet loTypeId="urn:microsoft.com/office/officeart/2005/8/layout/target3" loCatId="relationship" qsTypeId="urn:microsoft.com/office/officeart/2005/8/quickstyle/simple1" qsCatId="simple" csTypeId="urn:microsoft.com/office/officeart/2005/8/colors/accent0_3" csCatId="mainScheme"/>
      <dgm:spPr/>
      <dgm:t>
        <a:bodyPr/>
        <a:lstStyle/>
        <a:p>
          <a:endParaRPr lang="en-US"/>
        </a:p>
      </dgm:t>
    </dgm:pt>
    <dgm:pt modelId="{BCD84482-621D-4FD7-91D8-6FFA817459CC}">
      <dgm:prSet/>
      <dgm:spPr/>
      <dgm:t>
        <a:bodyPr/>
        <a:lstStyle/>
        <a:p>
          <a:pPr rtl="0"/>
          <a:r>
            <a:rPr lang="en-IN" b="1" smtClean="0"/>
            <a:t>Hypothesis </a:t>
          </a:r>
          <a:endParaRPr lang="en-IN"/>
        </a:p>
      </dgm:t>
    </dgm:pt>
    <dgm:pt modelId="{19334365-3793-4E66-A125-30A7436C2C08}" type="parTrans" cxnId="{7C6E5EAA-14E6-4AB9-AD57-E9D268A2DEDF}">
      <dgm:prSet/>
      <dgm:spPr/>
      <dgm:t>
        <a:bodyPr/>
        <a:lstStyle/>
        <a:p>
          <a:endParaRPr lang="en-US"/>
        </a:p>
      </dgm:t>
    </dgm:pt>
    <dgm:pt modelId="{907696C3-6A3A-40AD-A2DA-9FCAE727E459}" type="sibTrans" cxnId="{7C6E5EAA-14E6-4AB9-AD57-E9D268A2DEDF}">
      <dgm:prSet/>
      <dgm:spPr/>
      <dgm:t>
        <a:bodyPr/>
        <a:lstStyle/>
        <a:p>
          <a:endParaRPr lang="en-US"/>
        </a:p>
      </dgm:t>
    </dgm:pt>
    <dgm:pt modelId="{33537BF9-1246-48EC-BDD9-F57A348EEE88}" type="pres">
      <dgm:prSet presAssocID="{FE601FE0-8B6C-4FE9-BEB2-418A0560747B}" presName="Name0" presStyleCnt="0">
        <dgm:presLayoutVars>
          <dgm:chMax val="7"/>
          <dgm:dir/>
          <dgm:animLvl val="lvl"/>
          <dgm:resizeHandles val="exact"/>
        </dgm:presLayoutVars>
      </dgm:prSet>
      <dgm:spPr/>
    </dgm:pt>
    <dgm:pt modelId="{A236B25D-C31F-489F-A2C3-789E4075D10C}" type="pres">
      <dgm:prSet presAssocID="{BCD84482-621D-4FD7-91D8-6FFA817459CC}" presName="circle1" presStyleLbl="node1" presStyleIdx="0" presStyleCnt="1"/>
      <dgm:spPr/>
    </dgm:pt>
    <dgm:pt modelId="{4324A72E-A730-4144-AE7E-9C5DFDCA5857}" type="pres">
      <dgm:prSet presAssocID="{BCD84482-621D-4FD7-91D8-6FFA817459CC}" presName="space" presStyleCnt="0"/>
      <dgm:spPr/>
    </dgm:pt>
    <dgm:pt modelId="{415256D9-8A8F-4088-A471-C1E28DA81702}" type="pres">
      <dgm:prSet presAssocID="{BCD84482-621D-4FD7-91D8-6FFA817459CC}" presName="rect1" presStyleLbl="alignAcc1" presStyleIdx="0" presStyleCnt="1"/>
      <dgm:spPr/>
    </dgm:pt>
    <dgm:pt modelId="{A9C5142A-6A75-46B4-AF96-7E0D69BA479D}" type="pres">
      <dgm:prSet presAssocID="{BCD84482-621D-4FD7-91D8-6FFA817459CC}" presName="rect1ParTxNoCh" presStyleLbl="alignAcc1" presStyleIdx="0" presStyleCnt="1">
        <dgm:presLayoutVars>
          <dgm:chMax val="1"/>
          <dgm:bulletEnabled val="1"/>
        </dgm:presLayoutVars>
      </dgm:prSet>
      <dgm:spPr/>
    </dgm:pt>
  </dgm:ptLst>
  <dgm:cxnLst>
    <dgm:cxn modelId="{7C6E5EAA-14E6-4AB9-AD57-E9D268A2DEDF}" srcId="{FE601FE0-8B6C-4FE9-BEB2-418A0560747B}" destId="{BCD84482-621D-4FD7-91D8-6FFA817459CC}" srcOrd="0" destOrd="0" parTransId="{19334365-3793-4E66-A125-30A7436C2C08}" sibTransId="{907696C3-6A3A-40AD-A2DA-9FCAE727E459}"/>
    <dgm:cxn modelId="{98433490-DC95-4F99-AED7-8970A2BE570C}" type="presOf" srcId="{BCD84482-621D-4FD7-91D8-6FFA817459CC}" destId="{A9C5142A-6A75-46B4-AF96-7E0D69BA479D}" srcOrd="1" destOrd="0" presId="urn:microsoft.com/office/officeart/2005/8/layout/target3"/>
    <dgm:cxn modelId="{1A548654-9E72-4176-90DD-708F635F0B4E}" type="presOf" srcId="{FE601FE0-8B6C-4FE9-BEB2-418A0560747B}" destId="{33537BF9-1246-48EC-BDD9-F57A348EEE88}" srcOrd="0" destOrd="0" presId="urn:microsoft.com/office/officeart/2005/8/layout/target3"/>
    <dgm:cxn modelId="{21781A07-BE1F-4A37-B916-20AC40231478}" type="presOf" srcId="{BCD84482-621D-4FD7-91D8-6FFA817459CC}" destId="{415256D9-8A8F-4088-A471-C1E28DA81702}" srcOrd="0" destOrd="0" presId="urn:microsoft.com/office/officeart/2005/8/layout/target3"/>
    <dgm:cxn modelId="{3CFC77E7-5680-4CC7-81F2-F1198C0B3E64}" type="presParOf" srcId="{33537BF9-1246-48EC-BDD9-F57A348EEE88}" destId="{A236B25D-C31F-489F-A2C3-789E4075D10C}" srcOrd="0" destOrd="0" presId="urn:microsoft.com/office/officeart/2005/8/layout/target3"/>
    <dgm:cxn modelId="{3C29658E-78FD-4160-8C9A-5FE71E3F12DA}" type="presParOf" srcId="{33537BF9-1246-48EC-BDD9-F57A348EEE88}" destId="{4324A72E-A730-4144-AE7E-9C5DFDCA5857}" srcOrd="1" destOrd="0" presId="urn:microsoft.com/office/officeart/2005/8/layout/target3"/>
    <dgm:cxn modelId="{29D0C233-47F5-420A-8E9D-665F83A72A9D}" type="presParOf" srcId="{33537BF9-1246-48EC-BDD9-F57A348EEE88}" destId="{415256D9-8A8F-4088-A471-C1E28DA81702}" srcOrd="2" destOrd="0" presId="urn:microsoft.com/office/officeart/2005/8/layout/target3"/>
    <dgm:cxn modelId="{75117DA3-36A2-40D2-8DED-F36C7593D4E9}" type="presParOf" srcId="{33537BF9-1246-48EC-BDD9-F57A348EEE88}" destId="{A9C5142A-6A75-46B4-AF96-7E0D69BA479D}"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4F10F70-3A9D-4302-9DC0-A98E9BA2963E}" type="doc">
      <dgm:prSet loTypeId="urn:microsoft.com/office/officeart/2005/8/layout/vList2" loCatId="list" qsTypeId="urn:microsoft.com/office/officeart/2005/8/quickstyle/simple1" qsCatId="simple" csTypeId="urn:microsoft.com/office/officeart/2005/8/colors/accent0_2" csCatId="mainScheme"/>
      <dgm:spPr/>
      <dgm:t>
        <a:bodyPr/>
        <a:lstStyle/>
        <a:p>
          <a:endParaRPr lang="en-US"/>
        </a:p>
      </dgm:t>
    </dgm:pt>
    <dgm:pt modelId="{F55CE7A4-3ABB-41CB-B83B-540571A43D96}">
      <dgm:prSet/>
      <dgm:spPr/>
      <dgm:t>
        <a:bodyPr/>
        <a:lstStyle/>
        <a:p>
          <a:pPr rtl="0"/>
          <a:r>
            <a:rPr lang="en-US" b="1" smtClean="0"/>
            <a:t>Analysis and Findings</a:t>
          </a:r>
          <a:endParaRPr lang="en-IN"/>
        </a:p>
      </dgm:t>
    </dgm:pt>
    <dgm:pt modelId="{20815BD9-2C16-4709-99B1-CB53A29F25CA}" type="parTrans" cxnId="{B8A1DFF4-DF1B-4F7B-82FB-B67C1A286CCD}">
      <dgm:prSet/>
      <dgm:spPr/>
      <dgm:t>
        <a:bodyPr/>
        <a:lstStyle/>
        <a:p>
          <a:endParaRPr lang="en-US"/>
        </a:p>
      </dgm:t>
    </dgm:pt>
    <dgm:pt modelId="{CBF14BF9-27EB-471D-9CB1-1859DE749A2B}" type="sibTrans" cxnId="{B8A1DFF4-DF1B-4F7B-82FB-B67C1A286CCD}">
      <dgm:prSet/>
      <dgm:spPr/>
      <dgm:t>
        <a:bodyPr/>
        <a:lstStyle/>
        <a:p>
          <a:endParaRPr lang="en-US"/>
        </a:p>
      </dgm:t>
    </dgm:pt>
    <dgm:pt modelId="{DC8360EB-020D-4958-91D1-B694B03D3471}" type="pres">
      <dgm:prSet presAssocID="{14F10F70-3A9D-4302-9DC0-A98E9BA2963E}" presName="linear" presStyleCnt="0">
        <dgm:presLayoutVars>
          <dgm:animLvl val="lvl"/>
          <dgm:resizeHandles val="exact"/>
        </dgm:presLayoutVars>
      </dgm:prSet>
      <dgm:spPr/>
    </dgm:pt>
    <dgm:pt modelId="{42D9E054-407B-43B9-9B90-ABE167FC3111}" type="pres">
      <dgm:prSet presAssocID="{F55CE7A4-3ABB-41CB-B83B-540571A43D96}" presName="parentText" presStyleLbl="node1" presStyleIdx="0" presStyleCnt="1" custLinFactNeighborX="11797" custLinFactNeighborY="-25994">
        <dgm:presLayoutVars>
          <dgm:chMax val="0"/>
          <dgm:bulletEnabled val="1"/>
        </dgm:presLayoutVars>
      </dgm:prSet>
      <dgm:spPr/>
    </dgm:pt>
  </dgm:ptLst>
  <dgm:cxnLst>
    <dgm:cxn modelId="{BA94F247-4573-479A-BAB3-246D8F4AE2E5}" type="presOf" srcId="{F55CE7A4-3ABB-41CB-B83B-540571A43D96}" destId="{42D9E054-407B-43B9-9B90-ABE167FC3111}" srcOrd="0" destOrd="0" presId="urn:microsoft.com/office/officeart/2005/8/layout/vList2"/>
    <dgm:cxn modelId="{B8A1DFF4-DF1B-4F7B-82FB-B67C1A286CCD}" srcId="{14F10F70-3A9D-4302-9DC0-A98E9BA2963E}" destId="{F55CE7A4-3ABB-41CB-B83B-540571A43D96}" srcOrd="0" destOrd="0" parTransId="{20815BD9-2C16-4709-99B1-CB53A29F25CA}" sibTransId="{CBF14BF9-27EB-471D-9CB1-1859DE749A2B}"/>
    <dgm:cxn modelId="{AB995FB7-1441-477A-8F2E-1288EE511D95}" type="presOf" srcId="{14F10F70-3A9D-4302-9DC0-A98E9BA2963E}" destId="{DC8360EB-020D-4958-91D1-B694B03D3471}" srcOrd="0" destOrd="0" presId="urn:microsoft.com/office/officeart/2005/8/layout/vList2"/>
    <dgm:cxn modelId="{C23E3A1C-0F2A-458D-B204-E02C4A3B1470}" type="presParOf" srcId="{DC8360EB-020D-4958-91D1-B694B03D3471}" destId="{42D9E054-407B-43B9-9B90-ABE167FC311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FF97008-5B89-4B6E-87B6-4FF4EEF699B3}" type="doc">
      <dgm:prSet loTypeId="urn:microsoft.com/office/officeart/2005/8/layout/target3" loCatId="relationship" qsTypeId="urn:microsoft.com/office/officeart/2005/8/quickstyle/simple1" qsCatId="simple" csTypeId="urn:microsoft.com/office/officeart/2005/8/colors/accent0_3" csCatId="mainScheme"/>
      <dgm:spPr/>
      <dgm:t>
        <a:bodyPr/>
        <a:lstStyle/>
        <a:p>
          <a:endParaRPr lang="en-US"/>
        </a:p>
      </dgm:t>
    </dgm:pt>
    <dgm:pt modelId="{C4E387EC-7412-44FC-BFE1-746443A975BB}">
      <dgm:prSet/>
      <dgm:spPr/>
      <dgm:t>
        <a:bodyPr/>
        <a:lstStyle/>
        <a:p>
          <a:pPr rtl="0"/>
          <a:r>
            <a:rPr lang="en-US" b="1" smtClean="0"/>
            <a:t>Suggestions</a:t>
          </a:r>
          <a:endParaRPr lang="en-IN"/>
        </a:p>
      </dgm:t>
    </dgm:pt>
    <dgm:pt modelId="{1BF9E7DB-3270-46D2-B9C8-C7F7391E0FA2}" type="parTrans" cxnId="{DD47F1CB-552B-45B2-8648-273E73C08F85}">
      <dgm:prSet/>
      <dgm:spPr/>
      <dgm:t>
        <a:bodyPr/>
        <a:lstStyle/>
        <a:p>
          <a:endParaRPr lang="en-US"/>
        </a:p>
      </dgm:t>
    </dgm:pt>
    <dgm:pt modelId="{0FA74526-7AD4-42E5-BBDF-1194776F891D}" type="sibTrans" cxnId="{DD47F1CB-552B-45B2-8648-273E73C08F85}">
      <dgm:prSet/>
      <dgm:spPr/>
      <dgm:t>
        <a:bodyPr/>
        <a:lstStyle/>
        <a:p>
          <a:endParaRPr lang="en-US"/>
        </a:p>
      </dgm:t>
    </dgm:pt>
    <dgm:pt modelId="{D3538AF9-670A-48DC-9877-EF87ED67522C}" type="pres">
      <dgm:prSet presAssocID="{3FF97008-5B89-4B6E-87B6-4FF4EEF699B3}" presName="Name0" presStyleCnt="0">
        <dgm:presLayoutVars>
          <dgm:chMax val="7"/>
          <dgm:dir/>
          <dgm:animLvl val="lvl"/>
          <dgm:resizeHandles val="exact"/>
        </dgm:presLayoutVars>
      </dgm:prSet>
      <dgm:spPr/>
    </dgm:pt>
    <dgm:pt modelId="{0DA8C335-CCCF-4847-9CE2-5B73AA521CCF}" type="pres">
      <dgm:prSet presAssocID="{C4E387EC-7412-44FC-BFE1-746443A975BB}" presName="circle1" presStyleLbl="node1" presStyleIdx="0" presStyleCnt="1"/>
      <dgm:spPr/>
    </dgm:pt>
    <dgm:pt modelId="{64B71DFE-446C-4229-B2D3-DA5485EF275F}" type="pres">
      <dgm:prSet presAssocID="{C4E387EC-7412-44FC-BFE1-746443A975BB}" presName="space" presStyleCnt="0"/>
      <dgm:spPr/>
    </dgm:pt>
    <dgm:pt modelId="{98A5FF1B-7DBD-484C-A9D1-50693185AEAC}" type="pres">
      <dgm:prSet presAssocID="{C4E387EC-7412-44FC-BFE1-746443A975BB}" presName="rect1" presStyleLbl="alignAcc1" presStyleIdx="0" presStyleCnt="1"/>
      <dgm:spPr/>
    </dgm:pt>
    <dgm:pt modelId="{46CAA5A1-77C1-4981-AD17-90A05CF3E236}" type="pres">
      <dgm:prSet presAssocID="{C4E387EC-7412-44FC-BFE1-746443A975BB}" presName="rect1ParTxNoCh" presStyleLbl="alignAcc1" presStyleIdx="0" presStyleCnt="1">
        <dgm:presLayoutVars>
          <dgm:chMax val="1"/>
          <dgm:bulletEnabled val="1"/>
        </dgm:presLayoutVars>
      </dgm:prSet>
      <dgm:spPr/>
    </dgm:pt>
  </dgm:ptLst>
  <dgm:cxnLst>
    <dgm:cxn modelId="{D71339CD-192E-4769-A09A-0A3E54061559}" type="presOf" srcId="{C4E387EC-7412-44FC-BFE1-746443A975BB}" destId="{98A5FF1B-7DBD-484C-A9D1-50693185AEAC}" srcOrd="0" destOrd="0" presId="urn:microsoft.com/office/officeart/2005/8/layout/target3"/>
    <dgm:cxn modelId="{7EE189F8-F4E6-4B30-8D18-514A32103E41}" type="presOf" srcId="{3FF97008-5B89-4B6E-87B6-4FF4EEF699B3}" destId="{D3538AF9-670A-48DC-9877-EF87ED67522C}" srcOrd="0" destOrd="0" presId="urn:microsoft.com/office/officeart/2005/8/layout/target3"/>
    <dgm:cxn modelId="{824A0C98-C86F-4C4D-B9A5-C664ED91DAF6}" type="presOf" srcId="{C4E387EC-7412-44FC-BFE1-746443A975BB}" destId="{46CAA5A1-77C1-4981-AD17-90A05CF3E236}" srcOrd="1" destOrd="0" presId="urn:microsoft.com/office/officeart/2005/8/layout/target3"/>
    <dgm:cxn modelId="{DD47F1CB-552B-45B2-8648-273E73C08F85}" srcId="{3FF97008-5B89-4B6E-87B6-4FF4EEF699B3}" destId="{C4E387EC-7412-44FC-BFE1-746443A975BB}" srcOrd="0" destOrd="0" parTransId="{1BF9E7DB-3270-46D2-B9C8-C7F7391E0FA2}" sibTransId="{0FA74526-7AD4-42E5-BBDF-1194776F891D}"/>
    <dgm:cxn modelId="{3B82EF1F-0187-4DA5-A30F-2E510BB027D4}" type="presParOf" srcId="{D3538AF9-670A-48DC-9877-EF87ED67522C}" destId="{0DA8C335-CCCF-4847-9CE2-5B73AA521CCF}" srcOrd="0" destOrd="0" presId="urn:microsoft.com/office/officeart/2005/8/layout/target3"/>
    <dgm:cxn modelId="{40E66943-1721-469A-BA2C-1AF0F9FB0B83}" type="presParOf" srcId="{D3538AF9-670A-48DC-9877-EF87ED67522C}" destId="{64B71DFE-446C-4229-B2D3-DA5485EF275F}" srcOrd="1" destOrd="0" presId="urn:microsoft.com/office/officeart/2005/8/layout/target3"/>
    <dgm:cxn modelId="{F07CEBBF-BD8B-4F7F-8CA1-E5FD0C03D5A3}" type="presParOf" srcId="{D3538AF9-670A-48DC-9877-EF87ED67522C}" destId="{98A5FF1B-7DBD-484C-A9D1-50693185AEAC}" srcOrd="2" destOrd="0" presId="urn:microsoft.com/office/officeart/2005/8/layout/target3"/>
    <dgm:cxn modelId="{E49FA230-0FC2-49A7-8B5E-344600E205F4}" type="presParOf" srcId="{D3538AF9-670A-48DC-9877-EF87ED67522C}" destId="{46CAA5A1-77C1-4981-AD17-90A05CF3E23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E51A7E-0A5F-4A50-8536-7791FFD40C80}">
      <dsp:nvSpPr>
        <dsp:cNvPr id="0" name=""/>
        <dsp:cNvSpPr/>
      </dsp:nvSpPr>
      <dsp:spPr>
        <a:xfrm>
          <a:off x="0" y="0"/>
          <a:ext cx="976811" cy="976811"/>
        </a:xfrm>
        <a:prstGeom prst="pie">
          <a:avLst>
            <a:gd name="adj1" fmla="val 5400000"/>
            <a:gd name="adj2" fmla="val 1620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B43A50-23A9-46C0-A573-674439CC080C}">
      <dsp:nvSpPr>
        <dsp:cNvPr id="0" name=""/>
        <dsp:cNvSpPr/>
      </dsp:nvSpPr>
      <dsp:spPr>
        <a:xfrm>
          <a:off x="488405" y="0"/>
          <a:ext cx="6186714" cy="976811"/>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IN" sz="4200" b="1" kern="1200" smtClean="0"/>
            <a:t>✔ Business Problem</a:t>
          </a:r>
          <a:endParaRPr lang="en-IN" sz="4200" kern="1200"/>
        </a:p>
      </dsp:txBody>
      <dsp:txXfrm>
        <a:off x="488405" y="0"/>
        <a:ext cx="6186714" cy="9768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CC4ED3-C210-4656-8938-D42E469D20CD}">
      <dsp:nvSpPr>
        <dsp:cNvPr id="0" name=""/>
        <dsp:cNvSpPr/>
      </dsp:nvSpPr>
      <dsp:spPr>
        <a:xfrm>
          <a:off x="0" y="0"/>
          <a:ext cx="976811" cy="976811"/>
        </a:xfrm>
        <a:prstGeom prst="pie">
          <a:avLst>
            <a:gd name="adj1" fmla="val 5400000"/>
            <a:gd name="adj2" fmla="val 1620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13C2E5-07F8-404F-82C5-79C18DB42ECA}">
      <dsp:nvSpPr>
        <dsp:cNvPr id="0" name=""/>
        <dsp:cNvSpPr/>
      </dsp:nvSpPr>
      <dsp:spPr>
        <a:xfrm>
          <a:off x="488405" y="0"/>
          <a:ext cx="6186714" cy="976811"/>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IN" sz="4200" b="1" kern="1200" smtClean="0"/>
            <a:t>✔ Research Questions </a:t>
          </a:r>
          <a:endParaRPr lang="en-IN" sz="4200" kern="1200"/>
        </a:p>
      </dsp:txBody>
      <dsp:txXfrm>
        <a:off x="488405" y="0"/>
        <a:ext cx="6186714" cy="9768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9248C4-112A-4B3B-BE38-7AE00925D61D}">
      <dsp:nvSpPr>
        <dsp:cNvPr id="0" name=""/>
        <dsp:cNvSpPr/>
      </dsp:nvSpPr>
      <dsp:spPr>
        <a:xfrm>
          <a:off x="0" y="0"/>
          <a:ext cx="976811" cy="976811"/>
        </a:xfrm>
        <a:prstGeom prst="pie">
          <a:avLst>
            <a:gd name="adj1" fmla="val 5400000"/>
            <a:gd name="adj2" fmla="val 1620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81B165-37A3-43E7-BA2B-5858711B182A}">
      <dsp:nvSpPr>
        <dsp:cNvPr id="0" name=""/>
        <dsp:cNvSpPr/>
      </dsp:nvSpPr>
      <dsp:spPr>
        <a:xfrm>
          <a:off x="488405" y="0"/>
          <a:ext cx="6186714" cy="976811"/>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IN" sz="4200" b="1" kern="1200" smtClean="0"/>
            <a:t>✔ Assumptions </a:t>
          </a:r>
          <a:endParaRPr lang="en-IN" sz="4200" kern="1200"/>
        </a:p>
      </dsp:txBody>
      <dsp:txXfrm>
        <a:off x="488405" y="0"/>
        <a:ext cx="6186714" cy="9768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36B25D-C31F-489F-A2C3-789E4075D10C}">
      <dsp:nvSpPr>
        <dsp:cNvPr id="0" name=""/>
        <dsp:cNvSpPr/>
      </dsp:nvSpPr>
      <dsp:spPr>
        <a:xfrm>
          <a:off x="0" y="0"/>
          <a:ext cx="976811" cy="976811"/>
        </a:xfrm>
        <a:prstGeom prst="pie">
          <a:avLst>
            <a:gd name="adj1" fmla="val 5400000"/>
            <a:gd name="adj2" fmla="val 1620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5256D9-8A8F-4088-A471-C1E28DA81702}">
      <dsp:nvSpPr>
        <dsp:cNvPr id="0" name=""/>
        <dsp:cNvSpPr/>
      </dsp:nvSpPr>
      <dsp:spPr>
        <a:xfrm>
          <a:off x="488405" y="0"/>
          <a:ext cx="3613330" cy="976811"/>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lvl="0" algn="ctr" defTabSz="1911350" rtl="0">
            <a:lnSpc>
              <a:spcPct val="90000"/>
            </a:lnSpc>
            <a:spcBef>
              <a:spcPct val="0"/>
            </a:spcBef>
            <a:spcAft>
              <a:spcPct val="35000"/>
            </a:spcAft>
          </a:pPr>
          <a:r>
            <a:rPr lang="en-IN" sz="4300" b="1" kern="1200" smtClean="0"/>
            <a:t>Hypothesis </a:t>
          </a:r>
          <a:endParaRPr lang="en-IN" sz="4300" kern="1200"/>
        </a:p>
      </dsp:txBody>
      <dsp:txXfrm>
        <a:off x="488405" y="0"/>
        <a:ext cx="3613330" cy="9768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D9E054-407B-43B9-9B90-ABE167FC3111}">
      <dsp:nvSpPr>
        <dsp:cNvPr id="0" name=""/>
        <dsp:cNvSpPr/>
      </dsp:nvSpPr>
      <dsp:spPr>
        <a:xfrm>
          <a:off x="0" y="0"/>
          <a:ext cx="5536474" cy="105534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l" defTabSz="1955800" rtl="0">
            <a:lnSpc>
              <a:spcPct val="90000"/>
            </a:lnSpc>
            <a:spcBef>
              <a:spcPct val="0"/>
            </a:spcBef>
            <a:spcAft>
              <a:spcPct val="35000"/>
            </a:spcAft>
          </a:pPr>
          <a:r>
            <a:rPr lang="en-US" sz="4400" b="1" kern="1200" smtClean="0"/>
            <a:t>Analysis and Findings</a:t>
          </a:r>
          <a:endParaRPr lang="en-IN" sz="4400" kern="1200"/>
        </a:p>
      </dsp:txBody>
      <dsp:txXfrm>
        <a:off x="51517" y="51517"/>
        <a:ext cx="5433440" cy="9523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8C335-CCCF-4847-9CE2-5B73AA521CCF}">
      <dsp:nvSpPr>
        <dsp:cNvPr id="0" name=""/>
        <dsp:cNvSpPr/>
      </dsp:nvSpPr>
      <dsp:spPr>
        <a:xfrm>
          <a:off x="0" y="0"/>
          <a:ext cx="1041083" cy="1041083"/>
        </a:xfrm>
        <a:prstGeom prst="pie">
          <a:avLst>
            <a:gd name="adj1" fmla="val 5400000"/>
            <a:gd name="adj2" fmla="val 1620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A5FF1B-7DBD-484C-A9D1-50693185AEAC}">
      <dsp:nvSpPr>
        <dsp:cNvPr id="0" name=""/>
        <dsp:cNvSpPr/>
      </dsp:nvSpPr>
      <dsp:spPr>
        <a:xfrm>
          <a:off x="520541" y="0"/>
          <a:ext cx="3629092" cy="1041083"/>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lvl="0" algn="ctr" defTabSz="1822450" rtl="0">
            <a:lnSpc>
              <a:spcPct val="90000"/>
            </a:lnSpc>
            <a:spcBef>
              <a:spcPct val="0"/>
            </a:spcBef>
            <a:spcAft>
              <a:spcPct val="35000"/>
            </a:spcAft>
          </a:pPr>
          <a:r>
            <a:rPr lang="en-US" sz="4100" b="1" kern="1200" smtClean="0"/>
            <a:t>Suggestions</a:t>
          </a:r>
          <a:endParaRPr lang="en-IN" sz="4100" kern="1200"/>
        </a:p>
      </dsp:txBody>
      <dsp:txXfrm>
        <a:off x="520541" y="0"/>
        <a:ext cx="3629092" cy="1041083"/>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59BB5E3-A922-4F82-8A9C-148097432185}"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3541433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59BB5E3-A922-4F82-8A9C-148097432185}"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3132972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59BB5E3-A922-4F82-8A9C-148097432185}"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392418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59BB5E3-A922-4F82-8A9C-148097432185}"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42270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59BB5E3-A922-4F82-8A9C-148097432185}" type="datetimeFigureOut">
              <a:rPr lang="en-IN" smtClean="0"/>
              <a:t>26-11-2025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778655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59BB5E3-A922-4F82-8A9C-148097432185}" type="datetimeFigureOut">
              <a:rPr lang="en-IN" smtClean="0"/>
              <a:t>26-11-2025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1933507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9BB5E3-A922-4F82-8A9C-148097432185}" type="datetimeFigureOut">
              <a:rPr lang="en-IN" smtClean="0"/>
              <a:t>26-11-2025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1510563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59BB5E3-A922-4F82-8A9C-148097432185}"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1330330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59BB5E3-A922-4F82-8A9C-148097432185}"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3860556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59BB5E3-A922-4F82-8A9C-148097432185}"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2399832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59BB5E3-A922-4F82-8A9C-148097432185}"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0A207-03ED-4321-B123-225BDF35B985}" type="slidenum">
              <a:rPr lang="en-IN" smtClean="0"/>
              <a:t>‹#›</a:t>
            </a:fld>
            <a:endParaRPr lang="en-IN"/>
          </a:p>
        </p:txBody>
      </p:sp>
    </p:spTree>
    <p:extLst>
      <p:ext uri="{BB962C8B-B14F-4D97-AF65-F5344CB8AC3E}">
        <p14:creationId xmlns:p14="http://schemas.microsoft.com/office/powerpoint/2010/main" val="2296995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9BB5E3-A922-4F82-8A9C-148097432185}" type="datetimeFigureOut">
              <a:rPr lang="en-IN" smtClean="0"/>
              <a:t>26-11-2025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0A207-03ED-4321-B123-225BDF35B985}" type="slidenum">
              <a:rPr lang="en-IN" smtClean="0"/>
              <a:t>‹#›</a:t>
            </a:fld>
            <a:endParaRPr lang="en-IN"/>
          </a:p>
        </p:txBody>
      </p:sp>
    </p:spTree>
    <p:extLst>
      <p:ext uri="{BB962C8B-B14F-4D97-AF65-F5344CB8AC3E}">
        <p14:creationId xmlns:p14="http://schemas.microsoft.com/office/powerpoint/2010/main" val="1412690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583237360"/>
              </p:ext>
            </p:extLst>
          </p:nvPr>
        </p:nvGraphicFramePr>
        <p:xfrm>
          <a:off x="2403566" y="418012"/>
          <a:ext cx="6675120" cy="9768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ubtitle 2"/>
          <p:cNvSpPr>
            <a:spLocks noGrp="1"/>
          </p:cNvSpPr>
          <p:nvPr>
            <p:ph type="subTitle" idx="1"/>
          </p:nvPr>
        </p:nvSpPr>
        <p:spPr>
          <a:xfrm>
            <a:off x="953588" y="1907177"/>
            <a:ext cx="10659292" cy="4206242"/>
          </a:xfrm>
        </p:spPr>
        <p:txBody>
          <a:bodyPr>
            <a:normAutofit/>
          </a:bodyPr>
          <a:lstStyle/>
          <a:p>
            <a:r>
              <a:rPr lang="en-US" dirty="0" smtClean="0"/>
              <a:t>In recent years, both the City Hotel and the Resort Hotel have experienced significantly high reservation cancellation rates. These cancellations have directly impacted revenue generation and room utilization, resulting in financial losses and operational inefficiencies.</a:t>
            </a:r>
          </a:p>
          <a:p>
            <a:r>
              <a:rPr lang="en-US" dirty="0" smtClean="0"/>
              <a:t>To improve profitability and ensure optimal room occupancy, both hotels aim to reduce cancellation rates by understanding the key factors that influence guests’ booking behavior. This report focuses on analyzing the major drivers behind hotel reservation cancellations and identifying strategies that can support the hotels in improving revenue management, forecasting accuracy, and operational planning.</a:t>
            </a:r>
          </a:p>
          <a:p>
            <a:endParaRPr lang="en-IN" dirty="0"/>
          </a:p>
        </p:txBody>
      </p:sp>
    </p:spTree>
    <p:extLst>
      <p:ext uri="{BB962C8B-B14F-4D97-AF65-F5344CB8AC3E}">
        <p14:creationId xmlns:p14="http://schemas.microsoft.com/office/powerpoint/2010/main" val="484570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471641051"/>
              </p:ext>
            </p:extLst>
          </p:nvPr>
        </p:nvGraphicFramePr>
        <p:xfrm>
          <a:off x="2403566" y="418012"/>
          <a:ext cx="6675120" cy="9768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1"/>
          <p:cNvSpPr>
            <a:spLocks noGrp="1" noChangeArrowheads="1"/>
          </p:cNvSpPr>
          <p:nvPr>
            <p:ph type="subTitle" idx="1"/>
          </p:nvPr>
        </p:nvSpPr>
        <p:spPr bwMode="auto">
          <a:xfrm>
            <a:off x="810395" y="2213771"/>
            <a:ext cx="1099842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smtClean="0">
                <a:ln>
                  <a:noFill/>
                </a:ln>
                <a:solidFill>
                  <a:schemeClr val="tx1"/>
                </a:solidFill>
                <a:effectLst/>
                <a:latin typeface="Arial" panose="020B0604020202020204" pitchFamily="34" charset="0"/>
              </a:rPr>
              <a:t>1.What key variables influence hotel reservation cancellations?</a:t>
            </a:r>
          </a:p>
          <a:p>
            <a:pPr marL="457200" marR="0" lvl="0" indent="-457200" algn="l" defTabSz="914400" rtl="0" eaLnBrk="0" fontAlgn="base" latinLnBrk="0" hangingPunct="0">
              <a:lnSpc>
                <a:spcPct val="100000"/>
              </a:lnSpc>
              <a:spcBef>
                <a:spcPct val="0"/>
              </a:spcBef>
              <a:spcAft>
                <a:spcPct val="0"/>
              </a:spcAft>
              <a:buClrTx/>
              <a:buSzTx/>
              <a:buAutoNum type="arabicPeriod"/>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smtClean="0">
                <a:ln>
                  <a:noFill/>
                </a:ln>
                <a:solidFill>
                  <a:schemeClr val="tx1"/>
                </a:solidFill>
                <a:effectLst/>
                <a:latin typeface="Arial" panose="020B0604020202020204" pitchFamily="34" charset="0"/>
              </a:rPr>
              <a:t>2.How can hotels reduce and effectively manage reservation    cancellations?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smtClean="0">
                <a:ln>
                  <a:noFill/>
                </a:ln>
                <a:solidFill>
                  <a:schemeClr val="tx1"/>
                </a:solidFill>
                <a:effectLst/>
                <a:latin typeface="Arial" panose="020B0604020202020204" pitchFamily="34" charset="0"/>
              </a:rPr>
              <a:t>3.How can data-driven insights support hotels in making better pricing, promotional, and capacity-planning decisions?</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9434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682367344"/>
              </p:ext>
            </p:extLst>
          </p:nvPr>
        </p:nvGraphicFramePr>
        <p:xfrm>
          <a:off x="2403566" y="418012"/>
          <a:ext cx="6675120" cy="9768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1"/>
          <p:cNvSpPr>
            <a:spLocks noGrp="1" noChangeArrowheads="1"/>
          </p:cNvSpPr>
          <p:nvPr>
            <p:ph type="subTitle" idx="1"/>
          </p:nvPr>
        </p:nvSpPr>
        <p:spPr bwMode="auto">
          <a:xfrm>
            <a:off x="483326" y="1693859"/>
            <a:ext cx="1148225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No unusual events</a:t>
            </a:r>
            <a:r>
              <a:rPr kumimoji="0" lang="en-US" altLang="en-US" b="0" i="0" u="none" strike="noStrike" cap="none" normalizeH="0" baseline="0" dirty="0" smtClean="0">
                <a:ln>
                  <a:noFill/>
                </a:ln>
                <a:solidFill>
                  <a:schemeClr val="tx1"/>
                </a:solidFill>
                <a:effectLst/>
                <a:latin typeface="Arial" panose="020B0604020202020204" pitchFamily="34" charset="0"/>
              </a:rPr>
              <a:t> between 2015 and 2017 significantly impacted customer   booking behavior or hotel operations</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The dataset accurately reflects current hotel trends</a:t>
            </a:r>
            <a:r>
              <a:rPr kumimoji="0" lang="en-US" altLang="en-US" b="0" i="0" u="none" strike="noStrike" cap="none" normalizeH="0" baseline="0" dirty="0" smtClean="0">
                <a:ln>
                  <a:noFill/>
                </a:ln>
                <a:solidFill>
                  <a:schemeClr val="tx1"/>
                </a:solidFill>
                <a:effectLst/>
                <a:latin typeface="Arial" panose="020B0604020202020204" pitchFamily="34" charset="0"/>
              </a:rPr>
              <a:t> and can be used to develop reliable business recommendations</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The suggested solutions will not create unintended negative impacts</a:t>
            </a:r>
            <a:r>
              <a:rPr kumimoji="0" lang="en-US" altLang="en-US" b="0" i="0" u="none" strike="noStrike" cap="none" normalizeH="0" baseline="0" dirty="0" smtClean="0">
                <a:ln>
                  <a:noFill/>
                </a:ln>
                <a:solidFill>
                  <a:schemeClr val="tx1"/>
                </a:solidFill>
                <a:effectLst/>
                <a:latin typeface="Arial" panose="020B0604020202020204" pitchFamily="34" charset="0"/>
              </a:rPr>
              <a:t> on hotel operations or customer experience</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Hotels have not yet implemented</a:t>
            </a:r>
            <a:r>
              <a:rPr kumimoji="0" lang="en-US" altLang="en-US" b="0" i="0" u="none" strike="noStrike" cap="none" normalizeH="0" baseline="0" dirty="0" smtClean="0">
                <a:ln>
                  <a:noFill/>
                </a:ln>
                <a:solidFill>
                  <a:schemeClr val="tx1"/>
                </a:solidFill>
                <a:effectLst/>
                <a:latin typeface="Arial" panose="020B0604020202020204" pitchFamily="34" charset="0"/>
              </a:rPr>
              <a:t> the recommended strategies or optimization techniques included in this analysis.</a:t>
            </a:r>
          </a:p>
        </p:txBody>
      </p:sp>
    </p:spTree>
    <p:extLst>
      <p:ext uri="{BB962C8B-B14F-4D97-AF65-F5344CB8AC3E}">
        <p14:creationId xmlns:p14="http://schemas.microsoft.com/office/powerpoint/2010/main" val="761319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402768422"/>
              </p:ext>
            </p:extLst>
          </p:nvPr>
        </p:nvGraphicFramePr>
        <p:xfrm>
          <a:off x="3304903" y="457200"/>
          <a:ext cx="4101736" cy="9768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2"/>
          <p:cNvSpPr>
            <a:spLocks noGrp="1" noChangeArrowheads="1"/>
          </p:cNvSpPr>
          <p:nvPr>
            <p:ph type="subTitle" idx="1"/>
          </p:nvPr>
        </p:nvSpPr>
        <p:spPr bwMode="auto">
          <a:xfrm>
            <a:off x="143691" y="1564122"/>
            <a:ext cx="12192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smtClean="0">
                <a:ln>
                  <a:noFill/>
                </a:ln>
                <a:solidFill>
                  <a:schemeClr val="tx1"/>
                </a:solidFill>
                <a:effectLst/>
                <a:latin typeface="Arial" panose="020B0604020202020204" pitchFamily="34" charset="0"/>
              </a:rPr>
              <a:t>1.Higher room prices are associated with increased reservation cancellations</a:t>
            </a:r>
            <a:r>
              <a:rPr kumimoji="0" lang="en-US" altLang="en-US" sz="280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smtClean="0">
                <a:ln>
                  <a:noFill/>
                </a:ln>
                <a:solidFill>
                  <a:schemeClr val="tx1"/>
                </a:solidFill>
                <a:effectLst/>
                <a:latin typeface="Arial" panose="020B0604020202020204" pitchFamily="34" charset="0"/>
              </a:rPr>
              <a:t>2.Longer waiting lists increase the likelihood of customers cancelling their   reservations</a:t>
            </a:r>
            <a:r>
              <a:rPr kumimoji="0" lang="en-US" altLang="en-US" sz="280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smtClean="0">
                <a:ln>
                  <a:noFill/>
                </a:ln>
                <a:solidFill>
                  <a:schemeClr val="tx1"/>
                </a:solidFill>
                <a:effectLst/>
                <a:latin typeface="Arial" panose="020B0604020202020204" pitchFamily="34" charset="0"/>
              </a:rPr>
              <a:t>3.A majority of bookings—and cancellations—originate from offline travel agencies.</a:t>
            </a:r>
          </a:p>
        </p:txBody>
      </p:sp>
      <p:sp>
        <p:nvSpPr>
          <p:cNvPr id="3" name="TextBox 2"/>
          <p:cNvSpPr txBox="1"/>
          <p:nvPr/>
        </p:nvSpPr>
        <p:spPr>
          <a:xfrm>
            <a:off x="1645920" y="3500846"/>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371815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937830143"/>
              </p:ext>
            </p:extLst>
          </p:nvPr>
        </p:nvGraphicFramePr>
        <p:xfrm>
          <a:off x="2876006" y="195309"/>
          <a:ext cx="5536474"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Content Placeholder 5"/>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2340429" y="1742940"/>
            <a:ext cx="7744097" cy="4762635"/>
          </a:xfrm>
        </p:spPr>
      </p:pic>
    </p:spTree>
    <p:extLst>
      <p:ext uri="{BB962C8B-B14F-4D97-AF65-F5344CB8AC3E}">
        <p14:creationId xmlns:p14="http://schemas.microsoft.com/office/powerpoint/2010/main" val="3720034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04503"/>
            <a:ext cx="12370526" cy="1323439"/>
          </a:xfrm>
          <a:prstGeom prst="rect">
            <a:avLst/>
          </a:prstGeom>
          <a:noFill/>
        </p:spPr>
        <p:txBody>
          <a:bodyPr wrap="square" rtlCol="0">
            <a:spAutoFit/>
          </a:bodyPr>
          <a:lstStyle/>
          <a:p>
            <a:r>
              <a:rPr lang="en-US" sz="2000" dirty="0" smtClean="0"/>
              <a:t>The accompanying bar graph shows the percentage of reservations that are canceled and those that are not. It is obvious that There are still a significant number of reservations that have not been canceled. There are still a significant number of reservations  that are not been canceled. There are still 37% of clients who canceled their reservation, which has a significant Impact on the hotels’ earnings.</a:t>
            </a:r>
            <a:endParaRPr lang="en-IN" sz="2000"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2694233" y="3227017"/>
            <a:ext cx="45719" cy="44269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8823" y="1501276"/>
            <a:ext cx="9781360" cy="5340040"/>
          </a:xfrm>
          <a:prstGeom prst="rect">
            <a:avLst/>
          </a:prstGeom>
        </p:spPr>
      </p:pic>
    </p:spTree>
    <p:extLst>
      <p:ext uri="{BB962C8B-B14F-4D97-AF65-F5344CB8AC3E}">
        <p14:creationId xmlns:p14="http://schemas.microsoft.com/office/powerpoint/2010/main" val="3505588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4136" y="209006"/>
            <a:ext cx="10319657" cy="830997"/>
          </a:xfrm>
          <a:prstGeom prst="rect">
            <a:avLst/>
          </a:prstGeom>
          <a:noFill/>
        </p:spPr>
        <p:txBody>
          <a:bodyPr wrap="square" rtlCol="0">
            <a:spAutoFit/>
          </a:bodyPr>
          <a:lstStyle/>
          <a:p>
            <a:r>
              <a:rPr lang="en-US" sz="2400" dirty="0" smtClean="0"/>
              <a:t>In comparison to resort hotels, city hotels have more bookings. It’s possible that resort hotels are more expensive than those in cities.</a:t>
            </a:r>
            <a:endParaRPr lang="en-IN"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136" y="1554480"/>
            <a:ext cx="11338854" cy="4972857"/>
          </a:xfrm>
          <a:prstGeom prst="rect">
            <a:avLst/>
          </a:prstGeom>
        </p:spPr>
      </p:pic>
    </p:spTree>
    <p:extLst>
      <p:ext uri="{BB962C8B-B14F-4D97-AF65-F5344CB8AC3E}">
        <p14:creationId xmlns:p14="http://schemas.microsoft.com/office/powerpoint/2010/main" val="254750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9634" y="365759"/>
            <a:ext cx="11312435" cy="1015663"/>
          </a:xfrm>
          <a:prstGeom prst="rect">
            <a:avLst/>
          </a:prstGeom>
          <a:noFill/>
        </p:spPr>
        <p:txBody>
          <a:bodyPr wrap="square" rtlCol="0">
            <a:spAutoFit/>
          </a:bodyPr>
          <a:lstStyle/>
          <a:p>
            <a:r>
              <a:rPr lang="en-US" sz="2000" dirty="0" smtClean="0"/>
              <a:t>The Line graph above shows that, on certain days, the average daily rate for a city hotel is less than of a city hotel is less than that of a resort hotel, and on other days, it is even less, It goes without saying that weekends and holidays may see a rise in resort hotel rates.</a:t>
            </a:r>
            <a:endParaRPr lang="en-IN" sz="20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3826" y="1498095"/>
            <a:ext cx="9544050" cy="5095875"/>
          </a:xfrm>
          <a:prstGeom prst="rect">
            <a:avLst/>
          </a:prstGeom>
        </p:spPr>
      </p:pic>
    </p:spTree>
    <p:extLst>
      <p:ext uri="{BB962C8B-B14F-4D97-AF65-F5344CB8AC3E}">
        <p14:creationId xmlns:p14="http://schemas.microsoft.com/office/powerpoint/2010/main" val="1258058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073" y="326571"/>
            <a:ext cx="11625943" cy="1323439"/>
          </a:xfrm>
          <a:prstGeom prst="rect">
            <a:avLst/>
          </a:prstGeom>
          <a:noFill/>
        </p:spPr>
        <p:txBody>
          <a:bodyPr wrap="square" rtlCol="0">
            <a:spAutoFit/>
          </a:bodyPr>
          <a:lstStyle/>
          <a:p>
            <a:r>
              <a:rPr lang="en-US" sz="2000" dirty="0" smtClean="0"/>
              <a:t>We have developed the grouped bar graph to analyze the months with the highest and lowest reservation levels according to reservation status. As can be seen, both the number of confirmed reservations and the number of canceled reservations are largest in the month of August. Whereas January is the month with the most canceled reservations.</a:t>
            </a:r>
            <a:endParaRPr lang="en-IN" sz="20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9120" y="1590675"/>
            <a:ext cx="9620250" cy="5267325"/>
          </a:xfrm>
          <a:prstGeom prst="rect">
            <a:avLst/>
          </a:prstGeom>
        </p:spPr>
      </p:pic>
    </p:spTree>
    <p:extLst>
      <p:ext uri="{BB962C8B-B14F-4D97-AF65-F5344CB8AC3E}">
        <p14:creationId xmlns:p14="http://schemas.microsoft.com/office/powerpoint/2010/main" val="3559458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384" y="104502"/>
            <a:ext cx="11904616" cy="1631216"/>
          </a:xfrm>
          <a:prstGeom prst="rect">
            <a:avLst/>
          </a:prstGeom>
          <a:noFill/>
        </p:spPr>
        <p:txBody>
          <a:bodyPr wrap="square" rtlCol="0">
            <a:spAutoFit/>
          </a:bodyPr>
          <a:lstStyle/>
          <a:p>
            <a:r>
              <a:rPr lang="en-US" sz="2000" dirty="0" smtClean="0"/>
              <a:t>This bar graph demonstrates that cancellations are most common when prices are greatest and least common when they are lowest. Therefore, the cost of the accommodation is solely responsible for the cancellation.</a:t>
            </a:r>
          </a:p>
          <a:p>
            <a:endParaRPr lang="en-US" sz="2000" dirty="0"/>
          </a:p>
          <a:p>
            <a:r>
              <a:rPr lang="en-US" sz="2000" dirty="0" smtClean="0"/>
              <a:t>Now, let’s see which country has the highest reservation canceled. The top country is Portugal  with the highest number of cancellations.</a:t>
            </a:r>
            <a:endParaRPr lang="en-IN" sz="20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7704" y="1476103"/>
            <a:ext cx="6471012" cy="5157787"/>
          </a:xfrm>
          <a:prstGeom prst="rect">
            <a:avLst/>
          </a:prstGeom>
        </p:spPr>
      </p:pic>
    </p:spTree>
    <p:extLst>
      <p:ext uri="{BB962C8B-B14F-4D97-AF65-F5344CB8AC3E}">
        <p14:creationId xmlns:p14="http://schemas.microsoft.com/office/powerpoint/2010/main" val="3229800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2" y="156755"/>
            <a:ext cx="11639006" cy="1323439"/>
          </a:xfrm>
          <a:prstGeom prst="rect">
            <a:avLst/>
          </a:prstGeom>
          <a:noFill/>
        </p:spPr>
        <p:txBody>
          <a:bodyPr wrap="square" rtlCol="0">
            <a:spAutoFit/>
          </a:bodyPr>
          <a:lstStyle/>
          <a:p>
            <a:r>
              <a:rPr lang="en-US" sz="2000" dirty="0" smtClean="0"/>
              <a:t>Let’s check the area from where guests are visiting the hotel and making reservations. Is it coming from Direct or Groups, Online or Offline Travel Agents? Around 46% of the clients come from online travel agencies, whereas 27% come from groups. Only 4% of clients book hotels directly by visiting them and making reservations.</a:t>
            </a:r>
            <a:endParaRPr lang="en-IN" sz="20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245" y="1480194"/>
            <a:ext cx="10058400" cy="3466861"/>
          </a:xfrm>
          <a:prstGeom prst="rect">
            <a:avLst/>
          </a:prstGeom>
        </p:spPr>
      </p:pic>
      <p:sp>
        <p:nvSpPr>
          <p:cNvPr id="4" name="TextBox 3"/>
          <p:cNvSpPr txBox="1"/>
          <p:nvPr/>
        </p:nvSpPr>
        <p:spPr>
          <a:xfrm>
            <a:off x="215536" y="5329645"/>
            <a:ext cx="11996058" cy="707886"/>
          </a:xfrm>
          <a:prstGeom prst="rect">
            <a:avLst/>
          </a:prstGeom>
          <a:noFill/>
        </p:spPr>
        <p:txBody>
          <a:bodyPr wrap="square" rtlCol="0">
            <a:spAutoFit/>
          </a:bodyPr>
          <a:lstStyle/>
          <a:p>
            <a:r>
              <a:rPr lang="en-US" sz="2000" dirty="0" smtClean="0"/>
              <a:t>As seen in the graph, reservations are canceled when the average daily rate is higher than when it is not canceled. It clearly proves all the above analysis, that the higher price leads to higher cancellation.</a:t>
            </a:r>
            <a:endParaRPr lang="en-IN" sz="2000" dirty="0"/>
          </a:p>
        </p:txBody>
      </p:sp>
    </p:spTree>
    <p:extLst>
      <p:ext uri="{BB962C8B-B14F-4D97-AF65-F5344CB8AC3E}">
        <p14:creationId xmlns:p14="http://schemas.microsoft.com/office/powerpoint/2010/main" val="419714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920424911"/>
              </p:ext>
            </p:extLst>
          </p:nvPr>
        </p:nvGraphicFramePr>
        <p:xfrm>
          <a:off x="1" y="0"/>
          <a:ext cx="4149634" cy="10410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ubtitle 2"/>
          <p:cNvSpPr>
            <a:spLocks noGrp="1"/>
          </p:cNvSpPr>
          <p:nvPr>
            <p:ph type="subTitle" idx="1"/>
          </p:nvPr>
        </p:nvSpPr>
        <p:spPr>
          <a:xfrm>
            <a:off x="235131" y="1423851"/>
            <a:ext cx="11508377" cy="5342709"/>
          </a:xfrm>
        </p:spPr>
        <p:txBody>
          <a:bodyPr/>
          <a:lstStyle/>
          <a:p>
            <a:pPr marL="457200" indent="-457200" algn="l">
              <a:buFont typeface="Wingdings" panose="05000000000000000000" pitchFamily="2" charset="2"/>
              <a:buChar char="q"/>
            </a:pPr>
            <a:r>
              <a:rPr lang="en-US" dirty="0" smtClean="0"/>
              <a:t>Cancellation rate rise as the price does. In order to prevent cancellations of reservations, hotels could work on their pricing strategies and try </a:t>
            </a:r>
            <a:r>
              <a:rPr lang="en-US" dirty="0"/>
              <a:t>t</a:t>
            </a:r>
            <a:r>
              <a:rPr lang="en-US" dirty="0" smtClean="0"/>
              <a:t>o lower the rates for specific hotel based on locations. They can also provide some discounts to the consumers.</a:t>
            </a:r>
          </a:p>
          <a:p>
            <a:pPr marL="457200" indent="-457200" algn="l">
              <a:buFont typeface="Wingdings" panose="05000000000000000000" pitchFamily="2" charset="2"/>
              <a:buChar char="q"/>
            </a:pPr>
            <a:r>
              <a:rPr lang="en-US" dirty="0" smtClean="0"/>
              <a:t>As the ratio of the cancellation and not cancellation of the resort hotel is higher in the resort hotel than the city hotels. So the hotels should provide a reasonable discount on the room prices on weekends or on holidays.</a:t>
            </a:r>
          </a:p>
          <a:p>
            <a:pPr marL="457200" indent="-457200" algn="l">
              <a:buFont typeface="Wingdings" panose="05000000000000000000" pitchFamily="2" charset="2"/>
              <a:buChar char="q"/>
            </a:pPr>
            <a:r>
              <a:rPr lang="en-US" dirty="0" smtClean="0"/>
              <a:t>In the month of January, hotels can start campaigns or marketing with a reasonable amount to increase their revenue as the cancellation is the highest in this month.</a:t>
            </a:r>
          </a:p>
          <a:p>
            <a:pPr marL="457200" indent="-457200" algn="l">
              <a:buFont typeface="Wingdings" panose="05000000000000000000" pitchFamily="2" charset="2"/>
              <a:buChar char="q"/>
            </a:pPr>
            <a:r>
              <a:rPr lang="en-US" dirty="0" smtClean="0"/>
              <a:t>They can also increase the quality of their hotels and their services mainly in Portugal to reduce the cancellation rate.</a:t>
            </a:r>
            <a:endParaRPr lang="en-IN" dirty="0"/>
          </a:p>
        </p:txBody>
      </p:sp>
    </p:spTree>
    <p:extLst>
      <p:ext uri="{BB962C8B-B14F-4D97-AF65-F5344CB8AC3E}">
        <p14:creationId xmlns:p14="http://schemas.microsoft.com/office/powerpoint/2010/main" val="295865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764</Words>
  <Application>Microsoft Office PowerPoint</Application>
  <PresentationFormat>Widescreen</PresentationFormat>
  <Paragraphs>38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Business Problem</dc:title>
  <dc:creator>DELL</dc:creator>
  <cp:lastModifiedBy>DELL</cp:lastModifiedBy>
  <cp:revision>15</cp:revision>
  <dcterms:created xsi:type="dcterms:W3CDTF">2025-11-24T03:51:21Z</dcterms:created>
  <dcterms:modified xsi:type="dcterms:W3CDTF">2025-11-26T04:03:47Z</dcterms:modified>
</cp:coreProperties>
</file>